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0_C5B8EE0E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B31E753-FB7F-3C88-C5C0-EADEC8744BA2}" name="성훈 최" initials="성최" userId="ce86910f57d01d2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00_C5B8EE0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840F0E0-48F5-4573-AD63-44AFF243543D}" authorId="{4B31E753-FB7F-3C88-C5C0-EADEC8744BA2}" created="2026-01-07T01:28:47.08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17231118" sldId="256"/>
      <ac:spMk id="3" creationId="{235E7FB0-6177-FF57-C428-96A9808240D4}"/>
    </ac:deMkLst>
    <p188:txBody>
      <a:bodyPr/>
      <a:lstStyle/>
      <a:p>
        <a:r>
          <a:rPr lang="ko-KR" altLang="en-US"/>
          <a:t>Item은 효과만 정의하는 추상 클래스
StatComponent만 넘겨서
캐릭터 내부 구조를 직접 건드리지 않음
제작된 두 아이템의 공통 Use처럼 같은 방법으로 다른 효과를 만들 수 있음</a:t>
        </a:r>
      </a:p>
    </p188:txBody>
  </p188:cm>
  <p188:cm id="{48949119-BD66-4535-99AF-DB3A3999E0C8}" authorId="{4B31E753-FB7F-3C88-C5C0-EADEC8744BA2}" created="2026-01-07T01:41:53.99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17231118" sldId="256"/>
      <ac:spMk id="6" creationId="{CFBF47D8-62D2-1D6D-9A7D-4EB94EAA764A}"/>
    </ac:deMkLst>
    <p188:txBody>
      <a:bodyPr/>
      <a:lstStyle/>
      <a:p>
        <a:r>
          <a:rPr lang="ko-KR" altLang="en-US"/>
          <a:t>Character는 아이템의 정체를 모름
Inventory가 아이템 관리 책임
Item은 StatComponent만 수정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E5B9F1-063C-ED23-8312-838C0EE5C2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542F21-DB76-4E64-AE3B-C139C84A64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2C2034-7950-249E-C67D-65DBAD5BE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962D9-96CA-44E7-B1AD-773997F0BEEB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977F45-9A3A-AE20-BDEE-4CA62D285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5FFB4A-639B-017E-81B3-7C0523290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1E78-6A82-4705-B38D-4E51B478B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984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0771D3-7F25-CBFA-F7FE-067A19269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D83522-CDF5-910A-18B0-7882EA43E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4B2E32-4FA3-5B2F-C193-28402EF9A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962D9-96CA-44E7-B1AD-773997F0BEEB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023500-71EA-476B-7063-8F4975A8E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985431-CAB7-457A-393A-F1BC61E1A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1E78-6A82-4705-B38D-4E51B478B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154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C7A97F-C580-0A6A-0885-683C9286B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C58D3ED-AAF0-C829-874E-6D68289D9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A3CFB6-3CBC-8A0F-28C5-73909BE93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962D9-96CA-44E7-B1AD-773997F0BEEB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A7B55-C645-14A6-40A2-833733778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48DDF4-890E-DC90-0701-FD767A22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1E78-6A82-4705-B38D-4E51B478B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23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5F39E0-5CF2-22F8-9411-7AEC72C40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A0B4B-EC0A-1527-0F64-335E7D0BC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8BD82F-7D0F-EF3A-B940-AD033DB2ED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07C493-12AF-B8D0-AF10-471201B5A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962D9-96CA-44E7-B1AD-773997F0BEEB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E94E5C-D970-61B6-AFBB-49F7D1094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5F0B04-03F8-1C2A-CF05-048EB8DE0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1E78-6A82-4705-B38D-4E51B478B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623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D5595-418D-4E1A-2B0F-AA1C739A7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AB8FAF-7A66-5BA2-9F47-3D54205CE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83D48E-38B1-0AAB-0836-E6C9AC647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10C7316-4871-7C9D-4798-4842934F12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2D70CC5-B373-DC80-35A1-57AF8EA62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9D7196-AE70-87F6-87A4-681779FD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962D9-96CA-44E7-B1AD-773997F0BEEB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F97C86C-3BCE-DD85-94B9-AC2D65269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D3AA8CF-66B3-35A4-E103-1D5450CE8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1E78-6A82-4705-B38D-4E51B478B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3937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7D0400-73F6-C1E9-B777-BFDD33DA3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9210EA8-A4DA-C8C9-720D-B56D687B1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962D9-96CA-44E7-B1AD-773997F0BEEB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434B969-7273-BE40-8164-E21A26D3C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E1139A-C07C-EBCC-69B4-6E2F0197B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1E78-6A82-4705-B38D-4E51B478B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066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8BBF50B-D447-B8DC-3CD3-925EECD20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962D9-96CA-44E7-B1AD-773997F0BEEB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2B89BEE-745F-7000-F36C-717F6AC68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B32753-5C8A-33D0-CC0B-5F653CBF9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1E78-6A82-4705-B38D-4E51B478B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092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C15288-C4D2-1733-3569-004BF950F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1ACE71-4AB0-015E-D35B-6C4EAAF78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F91F2DD-CA1B-A54B-0E48-8D42F125E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19EAAF-3085-9778-E919-BA5FDD1BA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962D9-96CA-44E7-B1AD-773997F0BEEB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227D00-6D3D-A6B0-CC09-747362470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D1484B-80AF-7ABC-2D44-B29272B4B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1E78-6A82-4705-B38D-4E51B478B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78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D514B2-A106-F04E-80CE-13F89D697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0CC8C02-32B2-6F72-74A8-C5C2E1230C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382FE7-ADF0-3F83-74D8-58C145BB5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C0C776-4651-E2D6-A95E-D5510C47F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962D9-96CA-44E7-B1AD-773997F0BEEB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D6F27E-9EC3-01B8-53E5-3DF84269B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B8616E-A235-5B7B-84BF-0F619AF9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1E78-6A82-4705-B38D-4E51B478B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185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8FBEB7-7333-DB6F-9516-ECCE818F0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89492A-22B5-CED9-99B0-89594B509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3FB354-ED2E-6D6A-937F-0AAEFE6C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962D9-96CA-44E7-B1AD-773997F0BEEB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449D35-2816-424B-0756-E326A1723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4DCC93-1261-F156-2821-AC1682634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1E78-6A82-4705-B38D-4E51B478B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80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ED2EEF5-56B5-164B-9FE9-36CD0DA9F0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436097-9858-650A-7EAE-BE25C757F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3611A1-45E0-79EC-8938-048F454B8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962D9-96CA-44E7-B1AD-773997F0BEEB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49C204-73A5-1437-4780-20D59413A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58D690-982F-ED1F-F5CB-2C66C3387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71E78-6A82-4705-B38D-4E51B478B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267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7487B33-536C-7546-1C1E-931ABCC9E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AC7960-949D-06E9-4C13-B8F340A6E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B841F3-60C0-6013-3B50-B306B8766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962D9-96CA-44E7-B1AD-773997F0BEEB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213F8C-C9BC-8A2E-D677-4FAE585F9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3240E5-C5E5-9C47-6C5C-BEEF97AF1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071E78-6A82-4705-B38D-4E51B478B0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957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C5B8EE0E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88723E-09AE-9707-B248-FE93AE844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3663"/>
            <a:ext cx="9144000" cy="912177"/>
          </a:xfrm>
        </p:spPr>
        <p:txBody>
          <a:bodyPr>
            <a:normAutofit fontScale="90000"/>
          </a:bodyPr>
          <a:lstStyle/>
          <a:p>
            <a:r>
              <a:rPr lang="ko-KR" altLang="en-US" dirty="0"/>
              <a:t>아이템</a:t>
            </a:r>
            <a:r>
              <a:rPr lang="en-US" altLang="ko-KR" dirty="0"/>
              <a:t>-</a:t>
            </a:r>
            <a:r>
              <a:rPr lang="ko-KR" altLang="en-US" dirty="0"/>
              <a:t>인벤토리</a:t>
            </a:r>
            <a:r>
              <a:rPr lang="en-US" altLang="ko-KR" dirty="0"/>
              <a:t>-</a:t>
            </a:r>
            <a:r>
              <a:rPr lang="ko-KR" altLang="en-US" dirty="0"/>
              <a:t>캐릭터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35E7FB0-6177-FF57-C428-96A9808240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2430" y="1109504"/>
            <a:ext cx="3779520" cy="5654833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US" altLang="ko-KR" sz="1500" dirty="0">
                <a:solidFill>
                  <a:schemeClr val="accent1"/>
                </a:solidFill>
              </a:rPr>
              <a:t>class</a:t>
            </a:r>
            <a:r>
              <a:rPr lang="en-US" altLang="ko-KR" sz="1500" dirty="0"/>
              <a:t> Item</a:t>
            </a:r>
          </a:p>
          <a:p>
            <a:pPr algn="l"/>
            <a:r>
              <a:rPr lang="en-US" altLang="ko-KR" sz="1500" dirty="0"/>
              <a:t>{</a:t>
            </a:r>
          </a:p>
          <a:p>
            <a:pPr algn="l"/>
            <a:r>
              <a:rPr lang="en-US" altLang="ko-KR" sz="1500" dirty="0">
                <a:solidFill>
                  <a:schemeClr val="accent1"/>
                </a:solidFill>
              </a:rPr>
              <a:t>public:</a:t>
            </a:r>
          </a:p>
          <a:p>
            <a:pPr algn="l"/>
            <a:r>
              <a:rPr lang="en-US" altLang="ko-KR" sz="1500" dirty="0">
                <a:solidFill>
                  <a:schemeClr val="accent1"/>
                </a:solidFill>
              </a:rPr>
              <a:t>    virtual </a:t>
            </a:r>
            <a:r>
              <a:rPr lang="en-US" altLang="ko-KR" sz="1500" dirty="0">
                <a:solidFill>
                  <a:schemeClr val="accent2"/>
                </a:solidFill>
              </a:rPr>
              <a:t>~Item</a:t>
            </a:r>
            <a:r>
              <a:rPr lang="en-US" altLang="ko-KR" sz="1500" dirty="0"/>
              <a:t>() = default;</a:t>
            </a:r>
          </a:p>
          <a:p>
            <a:pPr algn="l"/>
            <a:r>
              <a:rPr lang="en-US" altLang="ko-KR" sz="1500" dirty="0"/>
              <a:t>   </a:t>
            </a:r>
            <a:r>
              <a:rPr lang="en-US" altLang="ko-KR" sz="1500" dirty="0">
                <a:solidFill>
                  <a:schemeClr val="accent1"/>
                </a:solidFill>
              </a:rPr>
              <a:t> virtual </a:t>
            </a:r>
            <a:r>
              <a:rPr lang="en-US" altLang="ko-KR" sz="1500" dirty="0">
                <a:solidFill>
                  <a:srgbClr val="FF0000"/>
                </a:solidFill>
              </a:rPr>
              <a:t>bool Use</a:t>
            </a:r>
            <a:r>
              <a:rPr lang="en-US" altLang="ko-KR" sz="1500" dirty="0"/>
              <a:t>(</a:t>
            </a:r>
            <a:r>
              <a:rPr lang="en-US" altLang="ko-KR" sz="1500" dirty="0" err="1"/>
              <a:t>StatComponent</a:t>
            </a:r>
            <a:r>
              <a:rPr lang="en-US" altLang="ko-KR" sz="1500" dirty="0"/>
              <a:t>&amp; stats) = 0;</a:t>
            </a:r>
          </a:p>
          <a:p>
            <a:pPr algn="l"/>
            <a:endParaRPr lang="en-US" altLang="ko-KR" sz="1500" dirty="0"/>
          </a:p>
          <a:p>
            <a:pPr algn="l"/>
            <a:r>
              <a:rPr lang="en-US" altLang="ko-KR" sz="1500" dirty="0">
                <a:solidFill>
                  <a:schemeClr val="accent1"/>
                </a:solidFill>
              </a:rPr>
              <a:t>protected:</a:t>
            </a:r>
          </a:p>
          <a:p>
            <a:pPr algn="l"/>
            <a:r>
              <a:rPr lang="en-US" altLang="ko-KR" sz="1500" dirty="0"/>
              <a:t>    </a:t>
            </a:r>
            <a:r>
              <a:rPr lang="en-US" altLang="ko-KR" sz="1500" dirty="0">
                <a:solidFill>
                  <a:schemeClr val="accent2"/>
                </a:solidFill>
              </a:rPr>
              <a:t>Item</a:t>
            </a:r>
            <a:r>
              <a:rPr lang="en-US" altLang="ko-KR" sz="1500" dirty="0"/>
              <a:t>(const std::string&amp; name, int price);</a:t>
            </a:r>
          </a:p>
          <a:p>
            <a:pPr algn="l"/>
            <a:r>
              <a:rPr lang="en-US" altLang="ko-KR" sz="1500" dirty="0"/>
              <a:t>};</a:t>
            </a:r>
          </a:p>
          <a:p>
            <a:pPr algn="l"/>
            <a:endParaRPr lang="en-US" altLang="ko-KR" sz="1500" dirty="0"/>
          </a:p>
          <a:p>
            <a:pPr algn="l"/>
            <a:r>
              <a:rPr lang="en-US" altLang="ko-KR" sz="1400" dirty="0">
                <a:solidFill>
                  <a:srgbClr val="FF0000"/>
                </a:solidFill>
              </a:rPr>
              <a:t>bool </a:t>
            </a:r>
            <a:r>
              <a:rPr lang="en-US" altLang="ko-KR" sz="1400" dirty="0" err="1">
                <a:solidFill>
                  <a:srgbClr val="FF0000"/>
                </a:solidFill>
              </a:rPr>
              <a:t>AttackBoost</a:t>
            </a:r>
            <a:r>
              <a:rPr lang="en-US" altLang="ko-KR" sz="1400" dirty="0">
                <a:solidFill>
                  <a:srgbClr val="FF0000"/>
                </a:solidFill>
              </a:rPr>
              <a:t>::Use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StatComponent</a:t>
            </a:r>
            <a:r>
              <a:rPr lang="en-US" altLang="ko-KR" sz="1400" dirty="0"/>
              <a:t>&amp; stats)</a:t>
            </a:r>
          </a:p>
          <a:p>
            <a:pPr algn="l"/>
            <a:r>
              <a:rPr lang="en-US" altLang="ko-KR" sz="1400" dirty="0"/>
              <a:t>{</a:t>
            </a:r>
          </a:p>
          <a:p>
            <a:pPr algn="l"/>
            <a:r>
              <a:rPr lang="en-US" altLang="ko-KR" sz="1400" dirty="0"/>
              <a:t>    </a:t>
            </a:r>
            <a:r>
              <a:rPr lang="en-US" altLang="ko-KR" sz="1400" dirty="0" err="1"/>
              <a:t>stats.SetAttack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stats.GetAttack</a:t>
            </a:r>
            <a:r>
              <a:rPr lang="en-US" altLang="ko-KR" sz="1400" dirty="0"/>
              <a:t>() + 10);</a:t>
            </a:r>
          </a:p>
          <a:p>
            <a:pPr algn="l"/>
            <a:r>
              <a:rPr lang="en-US" altLang="ko-KR" sz="1400" dirty="0"/>
              <a:t>    return true;</a:t>
            </a:r>
          </a:p>
          <a:p>
            <a:pPr algn="l"/>
            <a:r>
              <a:rPr lang="en-US" altLang="ko-KR" sz="1400" dirty="0"/>
              <a:t>}</a:t>
            </a:r>
          </a:p>
          <a:p>
            <a:pPr algn="l"/>
            <a:r>
              <a:rPr lang="en-US" altLang="ko-KR" sz="1500" dirty="0">
                <a:solidFill>
                  <a:srgbClr val="FF0000"/>
                </a:solidFill>
              </a:rPr>
              <a:t>bool </a:t>
            </a:r>
            <a:r>
              <a:rPr lang="en-US" altLang="ko-KR" sz="1500" dirty="0" err="1">
                <a:solidFill>
                  <a:srgbClr val="FF0000"/>
                </a:solidFill>
              </a:rPr>
              <a:t>HealthPotion</a:t>
            </a:r>
            <a:r>
              <a:rPr lang="en-US" altLang="ko-KR" sz="1500" dirty="0">
                <a:solidFill>
                  <a:srgbClr val="FF0000"/>
                </a:solidFill>
              </a:rPr>
              <a:t>::Use</a:t>
            </a:r>
            <a:r>
              <a:rPr lang="en-US" altLang="ko-KR" sz="1500" dirty="0"/>
              <a:t>(</a:t>
            </a:r>
            <a:r>
              <a:rPr lang="en-US" altLang="ko-KR" sz="1500" dirty="0" err="1"/>
              <a:t>StatComponent</a:t>
            </a:r>
            <a:r>
              <a:rPr lang="en-US" altLang="ko-KR" sz="1500" dirty="0"/>
              <a:t>&amp; stats)</a:t>
            </a:r>
          </a:p>
          <a:p>
            <a:pPr algn="l"/>
            <a:r>
              <a:rPr lang="en-US" altLang="ko-KR" sz="1500" dirty="0"/>
              <a:t>{</a:t>
            </a:r>
          </a:p>
          <a:p>
            <a:pPr algn="l"/>
            <a:r>
              <a:rPr lang="en-US" altLang="ko-KR" sz="1500" dirty="0"/>
              <a:t>    </a:t>
            </a:r>
            <a:r>
              <a:rPr lang="en-US" altLang="ko-KR" sz="1500" dirty="0" err="1"/>
              <a:t>stats.SetHp</a:t>
            </a:r>
            <a:r>
              <a:rPr lang="en-US" altLang="ko-KR" sz="1500" dirty="0"/>
              <a:t>(</a:t>
            </a:r>
          </a:p>
          <a:p>
            <a:pPr algn="l"/>
            <a:r>
              <a:rPr lang="en-US" altLang="ko-KR" sz="1500" dirty="0"/>
              <a:t>        std::min(</a:t>
            </a:r>
            <a:r>
              <a:rPr lang="en-US" altLang="ko-KR" sz="1500" dirty="0" err="1"/>
              <a:t>stats.GetHp</a:t>
            </a:r>
            <a:r>
              <a:rPr lang="en-US" altLang="ko-KR" sz="1500" dirty="0"/>
              <a:t>() + 50, </a:t>
            </a:r>
            <a:r>
              <a:rPr lang="en-US" altLang="ko-KR" sz="1500" dirty="0" err="1"/>
              <a:t>stats.GetMaxHp</a:t>
            </a:r>
            <a:r>
              <a:rPr lang="en-US" altLang="ko-KR" sz="1500" dirty="0"/>
              <a:t>())</a:t>
            </a:r>
          </a:p>
          <a:p>
            <a:pPr algn="l"/>
            <a:r>
              <a:rPr lang="en-US" altLang="ko-KR" sz="1500" dirty="0"/>
              <a:t>    );</a:t>
            </a:r>
          </a:p>
          <a:p>
            <a:pPr algn="l"/>
            <a:r>
              <a:rPr lang="en-US" altLang="ko-KR" sz="1500" dirty="0"/>
              <a:t>    return true;</a:t>
            </a:r>
          </a:p>
          <a:p>
            <a:pPr algn="l"/>
            <a:r>
              <a:rPr lang="en-US" altLang="ko-KR" sz="1500" dirty="0"/>
              <a:t>}</a:t>
            </a:r>
            <a:endParaRPr lang="ko-KR" altLang="en-US" sz="1500" dirty="0"/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062B391E-D2CD-B4DD-E829-71416F724A07}"/>
              </a:ext>
            </a:extLst>
          </p:cNvPr>
          <p:cNvSpPr txBox="1">
            <a:spLocks/>
          </p:cNvSpPr>
          <p:nvPr/>
        </p:nvSpPr>
        <p:spPr>
          <a:xfrm>
            <a:off x="4271010" y="1109504"/>
            <a:ext cx="4351020" cy="5654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ko-KR" altLang="en-US" sz="15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F47D8-62D2-1D6D-9A7D-4EB94EAA764A}"/>
              </a:ext>
            </a:extLst>
          </p:cNvPr>
          <p:cNvSpPr txBox="1"/>
          <p:nvPr/>
        </p:nvSpPr>
        <p:spPr>
          <a:xfrm>
            <a:off x="4271010" y="1109504"/>
            <a:ext cx="41757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bool Inventory::</a:t>
            </a:r>
            <a:r>
              <a:rPr lang="en-US" altLang="ko-KR" sz="1200" dirty="0" err="1">
                <a:solidFill>
                  <a:srgbClr val="FF0000"/>
                </a:solidFill>
              </a:rPr>
              <a:t>UseItem</a:t>
            </a:r>
            <a:r>
              <a:rPr lang="en-US" altLang="ko-KR" sz="1200" dirty="0"/>
              <a:t>(int index, </a:t>
            </a:r>
            <a:r>
              <a:rPr lang="en-US" altLang="ko-KR" sz="1200" dirty="0" err="1"/>
              <a:t>StatComponent</a:t>
            </a:r>
            <a:r>
              <a:rPr lang="en-US" altLang="ko-KR" sz="1200" dirty="0"/>
              <a:t>&amp; stats)</a:t>
            </a:r>
          </a:p>
          <a:p>
            <a:r>
              <a:rPr lang="en-US" altLang="ko-KR" sz="1200" dirty="0"/>
              <a:t>{</a:t>
            </a:r>
          </a:p>
          <a:p>
            <a:r>
              <a:rPr lang="en-US" altLang="ko-KR" sz="1200" dirty="0"/>
              <a:t>if (index &lt; 0 || index &gt;= </a:t>
            </a:r>
            <a:r>
              <a:rPr lang="en-US" altLang="ko-KR" sz="1200" dirty="0" err="1"/>
              <a:t>items_.size</a:t>
            </a:r>
            <a:r>
              <a:rPr lang="en-US" altLang="ko-KR" sz="1200" dirty="0"/>
              <a:t>())</a:t>
            </a:r>
          </a:p>
          <a:p>
            <a:r>
              <a:rPr lang="en-US" altLang="ko-KR" sz="1200" dirty="0"/>
              <a:t>{</a:t>
            </a:r>
          </a:p>
          <a:p>
            <a:r>
              <a:rPr lang="en-US" altLang="ko-KR" sz="1200" dirty="0"/>
              <a:t>return false;</a:t>
            </a:r>
          </a:p>
          <a:p>
            <a:r>
              <a:rPr lang="en-US" altLang="ko-KR" sz="1200" dirty="0"/>
              <a:t>}</a:t>
            </a:r>
          </a:p>
          <a:p>
            <a:r>
              <a:rPr lang="en-US" altLang="ko-KR" sz="1200" dirty="0"/>
              <a:t>if (!items_[index])</a:t>
            </a:r>
          </a:p>
          <a:p>
            <a:r>
              <a:rPr lang="en-US" altLang="ko-KR" sz="1200" dirty="0"/>
              <a:t>{</a:t>
            </a:r>
          </a:p>
          <a:p>
            <a:r>
              <a:rPr lang="en-US" altLang="ko-KR" sz="1200" dirty="0"/>
              <a:t>return false;</a:t>
            </a:r>
          </a:p>
          <a:p>
            <a:r>
              <a:rPr lang="en-US" altLang="ko-KR" sz="1200" dirty="0"/>
              <a:t>}</a:t>
            </a:r>
          </a:p>
          <a:p>
            <a:endParaRPr lang="ko-KR" altLang="en-US" sz="1200" dirty="0"/>
          </a:p>
          <a:p>
            <a:r>
              <a:rPr lang="en-US" altLang="ko-KR" sz="1200" dirty="0"/>
              <a:t>bool used = items_[index]-&gt;Use(stats);</a:t>
            </a:r>
          </a:p>
          <a:p>
            <a:r>
              <a:rPr lang="en-US" altLang="ko-KR" sz="1200" dirty="0"/>
              <a:t>if (used)</a:t>
            </a:r>
          </a:p>
          <a:p>
            <a:r>
              <a:rPr lang="en-US" altLang="ko-KR" sz="1200" dirty="0"/>
              <a:t>{//</a:t>
            </a:r>
            <a:r>
              <a:rPr lang="ko-KR" altLang="en-US" sz="1200" dirty="0"/>
              <a:t>해당 자리를 </a:t>
            </a:r>
            <a:r>
              <a:rPr lang="en-US" altLang="ko-KR" sz="1200" dirty="0"/>
              <a:t>null</a:t>
            </a:r>
            <a:r>
              <a:rPr lang="ko-KR" altLang="en-US" sz="1200" dirty="0"/>
              <a:t>로 대체</a:t>
            </a:r>
          </a:p>
          <a:p>
            <a:r>
              <a:rPr lang="en-US" altLang="ko-KR" sz="1200" dirty="0"/>
              <a:t>items_[index].reset();</a:t>
            </a:r>
          </a:p>
          <a:p>
            <a:r>
              <a:rPr lang="en-US" altLang="ko-KR" sz="1200" dirty="0"/>
              <a:t>}</a:t>
            </a:r>
          </a:p>
          <a:p>
            <a:r>
              <a:rPr lang="en-US" altLang="ko-KR" sz="1200" dirty="0"/>
              <a:t>return used;</a:t>
            </a:r>
          </a:p>
          <a:p>
            <a:r>
              <a:rPr lang="en-US" altLang="ko-KR" sz="1200" dirty="0"/>
              <a:t>}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DD5F87-2AD5-6964-1346-10D049AA2C05}"/>
              </a:ext>
            </a:extLst>
          </p:cNvPr>
          <p:cNvSpPr txBox="1"/>
          <p:nvPr/>
        </p:nvSpPr>
        <p:spPr>
          <a:xfrm>
            <a:off x="8446770" y="1109504"/>
            <a:ext cx="337470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>
                <a:solidFill>
                  <a:srgbClr val="FF0000"/>
                </a:solidFill>
              </a:rPr>
              <a:t>bool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Character</a:t>
            </a:r>
            <a:r>
              <a:rPr lang="ko-KR" altLang="en-US" sz="1200" dirty="0">
                <a:solidFill>
                  <a:srgbClr val="FF0000"/>
                </a:solidFill>
              </a:rPr>
              <a:t>::</a:t>
            </a:r>
            <a:r>
              <a:rPr lang="ko-KR" altLang="en-US" sz="1200" dirty="0" err="1">
                <a:solidFill>
                  <a:srgbClr val="FF0000"/>
                </a:solidFill>
              </a:rPr>
              <a:t>UseItem</a:t>
            </a:r>
            <a:r>
              <a:rPr lang="ko-KR" altLang="en-US" sz="1200" dirty="0"/>
              <a:t>(</a:t>
            </a:r>
            <a:r>
              <a:rPr lang="ko-KR" altLang="en-US" sz="1200" dirty="0" err="1"/>
              <a:t>int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index</a:t>
            </a:r>
            <a:r>
              <a:rPr lang="ko-KR" altLang="en-US" sz="1200" dirty="0"/>
              <a:t>)</a:t>
            </a:r>
          </a:p>
          <a:p>
            <a:r>
              <a:rPr lang="ko-KR" altLang="en-US" sz="1200" dirty="0"/>
              <a:t>{</a:t>
            </a:r>
          </a:p>
          <a:p>
            <a:r>
              <a:rPr lang="ko-KR" altLang="en-US" sz="1200" dirty="0"/>
              <a:t>    </a:t>
            </a:r>
            <a:r>
              <a:rPr lang="ko-KR" altLang="en-US" sz="1200" dirty="0" err="1"/>
              <a:t>return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inventory</a:t>
            </a:r>
            <a:r>
              <a:rPr lang="ko-KR" altLang="en-US" sz="1200" dirty="0"/>
              <a:t>_-&gt;</a:t>
            </a:r>
            <a:r>
              <a:rPr lang="ko-KR" altLang="en-US" sz="1200" dirty="0" err="1"/>
              <a:t>UseItem</a:t>
            </a:r>
            <a:r>
              <a:rPr lang="ko-KR" altLang="en-US" sz="1200" dirty="0"/>
              <a:t>(</a:t>
            </a:r>
            <a:r>
              <a:rPr lang="ko-KR" altLang="en-US" sz="1200" dirty="0" err="1"/>
              <a:t>index</a:t>
            </a:r>
            <a:r>
              <a:rPr lang="ko-KR" altLang="en-US" sz="1200" dirty="0"/>
              <a:t>, *</a:t>
            </a:r>
            <a:r>
              <a:rPr lang="ko-KR" altLang="en-US" sz="1200" dirty="0" err="1"/>
              <a:t>stats</a:t>
            </a:r>
            <a:r>
              <a:rPr lang="ko-KR" altLang="en-US" sz="1200" dirty="0"/>
              <a:t>_);</a:t>
            </a:r>
          </a:p>
          <a:p>
            <a:r>
              <a:rPr lang="ko-KR" altLang="en-US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172311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7B481347-A73C-83F5-40BC-021CF51F3112}"/>
              </a:ext>
            </a:extLst>
          </p:cNvPr>
          <p:cNvSpPr/>
          <p:nvPr/>
        </p:nvSpPr>
        <p:spPr>
          <a:xfrm>
            <a:off x="1272618" y="320513"/>
            <a:ext cx="1593129" cy="377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/>
                </a:solidFill>
              </a:rPr>
              <a:t>Character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E7EA64E-3DC5-233D-113A-B2FE4EA5A57D}"/>
              </a:ext>
            </a:extLst>
          </p:cNvPr>
          <p:cNvSpPr/>
          <p:nvPr/>
        </p:nvSpPr>
        <p:spPr>
          <a:xfrm>
            <a:off x="1272617" y="697585"/>
            <a:ext cx="1593129" cy="9049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en-US" altLang="ko-KR" dirty="0"/>
              <a:t>Stats_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inventory_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Action_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088F465-9787-2D95-D346-89DC42CA4893}"/>
              </a:ext>
            </a:extLst>
          </p:cNvPr>
          <p:cNvSpPr/>
          <p:nvPr/>
        </p:nvSpPr>
        <p:spPr>
          <a:xfrm>
            <a:off x="576606" y="2426620"/>
            <a:ext cx="1593129" cy="377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/>
                </a:solidFill>
              </a:rPr>
              <a:t>Inventory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ABFA476-A1AD-AB2E-7590-6F218E4F5718}"/>
              </a:ext>
            </a:extLst>
          </p:cNvPr>
          <p:cNvSpPr/>
          <p:nvPr/>
        </p:nvSpPr>
        <p:spPr>
          <a:xfrm>
            <a:off x="2865746" y="2426620"/>
            <a:ext cx="1822514" cy="377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accent2"/>
                </a:solidFill>
              </a:rPr>
              <a:t>StatComponent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8D2A742-9C6A-5DDC-D168-2DE7DBD77CA3}"/>
              </a:ext>
            </a:extLst>
          </p:cNvPr>
          <p:cNvSpPr/>
          <p:nvPr/>
        </p:nvSpPr>
        <p:spPr>
          <a:xfrm>
            <a:off x="576606" y="2803692"/>
            <a:ext cx="1593129" cy="856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Items_</a:t>
            </a:r>
          </a:p>
          <a:p>
            <a:r>
              <a:rPr lang="en-US" altLang="ko-KR" dirty="0" err="1">
                <a:solidFill>
                  <a:srgbClr val="FF0000"/>
                </a:solidFill>
              </a:rPr>
              <a:t>UseItem</a:t>
            </a:r>
            <a:r>
              <a:rPr lang="en-US" altLang="ko-KR" dirty="0">
                <a:solidFill>
                  <a:srgbClr val="FF0000"/>
                </a:solidFill>
              </a:rPr>
              <a:t>()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DC420A-1BAB-7C7C-1091-6D131F156016}"/>
              </a:ext>
            </a:extLst>
          </p:cNvPr>
          <p:cNvSpPr/>
          <p:nvPr/>
        </p:nvSpPr>
        <p:spPr>
          <a:xfrm>
            <a:off x="2865746" y="2803692"/>
            <a:ext cx="1822514" cy="8562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HP   /  ATK</a:t>
            </a:r>
          </a:p>
          <a:p>
            <a:r>
              <a:rPr lang="en-US" altLang="ko-KR" dirty="0" err="1"/>
              <a:t>Lv</a:t>
            </a:r>
            <a:r>
              <a:rPr lang="en-US" altLang="ko-KR" dirty="0"/>
              <a:t>    /  Point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D92D3C-C77A-28E2-DE8D-0922C40CC4B9}"/>
              </a:ext>
            </a:extLst>
          </p:cNvPr>
          <p:cNvSpPr/>
          <p:nvPr/>
        </p:nvSpPr>
        <p:spPr>
          <a:xfrm>
            <a:off x="576606" y="4344191"/>
            <a:ext cx="1593129" cy="377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accent2"/>
                </a:solidFill>
              </a:rPr>
              <a:t>Item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E82E5449-2A31-0DCD-655A-687E688EBD7C}"/>
              </a:ext>
            </a:extLst>
          </p:cNvPr>
          <p:cNvCxnSpPr/>
          <p:nvPr/>
        </p:nvCxnSpPr>
        <p:spPr>
          <a:xfrm rot="16200000" flipH="1">
            <a:off x="2764800" y="977638"/>
            <a:ext cx="1549927" cy="1348035"/>
          </a:xfrm>
          <a:prstGeom prst="bentConnector3">
            <a:avLst>
              <a:gd name="adj1" fmla="val 735"/>
            </a:avLst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D20FEEE3-F7AB-E6D8-5669-361865304EC7}"/>
              </a:ext>
            </a:extLst>
          </p:cNvPr>
          <p:cNvCxnSpPr>
            <a:stCxn id="11" idx="3"/>
            <a:endCxn id="13" idx="0"/>
          </p:cNvCxnSpPr>
          <p:nvPr/>
        </p:nvCxnSpPr>
        <p:spPr>
          <a:xfrm>
            <a:off x="2865746" y="1150071"/>
            <a:ext cx="911257" cy="1276549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FD75A961-025B-4599-7BE6-C3BF9B2060A5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1373171" y="1600984"/>
            <a:ext cx="0" cy="8256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02D55BE-772F-A07C-B277-A861D05BD4FF}"/>
              </a:ext>
            </a:extLst>
          </p:cNvPr>
          <p:cNvSpPr txBox="1"/>
          <p:nvPr/>
        </p:nvSpPr>
        <p:spPr>
          <a:xfrm>
            <a:off x="1339533" y="1794963"/>
            <a:ext cx="1178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rgbClr val="FF0000"/>
                </a:solidFill>
              </a:rPr>
              <a:t>UseItem</a:t>
            </a:r>
            <a:r>
              <a:rPr lang="en-US" altLang="ko-KR" dirty="0">
                <a:solidFill>
                  <a:srgbClr val="FF0000"/>
                </a:solidFill>
              </a:rPr>
              <a:t>()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BC638EF5-E165-FBE0-44F2-1D498F6DB0D6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>
            <a:off x="1373171" y="3659959"/>
            <a:ext cx="0" cy="684232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E0BD138-406B-FEC7-61B9-29934B321C4C}"/>
              </a:ext>
            </a:extLst>
          </p:cNvPr>
          <p:cNvSpPr txBox="1"/>
          <p:nvPr/>
        </p:nvSpPr>
        <p:spPr>
          <a:xfrm>
            <a:off x="1373170" y="3774209"/>
            <a:ext cx="2021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</a:rPr>
              <a:t>Owns(</a:t>
            </a:r>
            <a:r>
              <a:rPr lang="en-US" altLang="ko-KR" dirty="0" err="1">
                <a:solidFill>
                  <a:schemeClr val="accent6"/>
                </a:solidFill>
              </a:rPr>
              <a:t>unique_ptr</a:t>
            </a:r>
            <a:r>
              <a:rPr lang="en-US" altLang="ko-KR" dirty="0">
                <a:solidFill>
                  <a:schemeClr val="accent6"/>
                </a:solidFill>
              </a:rPr>
              <a:t>)</a:t>
            </a:r>
            <a:endParaRPr lang="ko-KR" altLang="en-US" dirty="0">
              <a:solidFill>
                <a:schemeClr val="accent6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5D66678-D394-6AD9-2DD1-A6CAD2BFB146}"/>
              </a:ext>
            </a:extLst>
          </p:cNvPr>
          <p:cNvSpPr/>
          <p:nvPr/>
        </p:nvSpPr>
        <p:spPr>
          <a:xfrm>
            <a:off x="576605" y="4685924"/>
            <a:ext cx="1593129" cy="342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rgbClr val="FF0000"/>
                </a:solidFill>
              </a:rPr>
              <a:t>+ Use()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F0E554-D6CD-E65E-45F3-63B4F41FADA0}"/>
              </a:ext>
            </a:extLst>
          </p:cNvPr>
          <p:cNvSpPr txBox="1"/>
          <p:nvPr/>
        </p:nvSpPr>
        <p:spPr>
          <a:xfrm>
            <a:off x="2273542" y="4413606"/>
            <a:ext cx="14798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abstract</a:t>
            </a:r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추상클래스</a:t>
            </a:r>
            <a:r>
              <a:rPr lang="en-US" altLang="ko-KR" dirty="0"/>
              <a:t>)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14106A7-327C-466D-5DB6-F332EC083286}"/>
              </a:ext>
            </a:extLst>
          </p:cNvPr>
          <p:cNvSpPr/>
          <p:nvPr/>
        </p:nvSpPr>
        <p:spPr>
          <a:xfrm>
            <a:off x="248239" y="5747228"/>
            <a:ext cx="1593129" cy="377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accent2"/>
                </a:solidFill>
              </a:rPr>
              <a:t>AttackBoost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60AF356-8CEB-DD63-0554-5ACD4A94C619}"/>
              </a:ext>
            </a:extLst>
          </p:cNvPr>
          <p:cNvSpPr/>
          <p:nvPr/>
        </p:nvSpPr>
        <p:spPr>
          <a:xfrm>
            <a:off x="248238" y="6088961"/>
            <a:ext cx="1593129" cy="342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</a:rPr>
              <a:t> ATK + 10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34B55C6-75D8-83CD-FCF7-7A61CC51A0A2}"/>
              </a:ext>
            </a:extLst>
          </p:cNvPr>
          <p:cNvSpPr/>
          <p:nvPr/>
        </p:nvSpPr>
        <p:spPr>
          <a:xfrm>
            <a:off x="2069181" y="5753532"/>
            <a:ext cx="1593129" cy="377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accent2"/>
                </a:solidFill>
              </a:rPr>
              <a:t>HealthPotion</a:t>
            </a:r>
            <a:endParaRPr lang="ko-KR" altLang="en-US" dirty="0">
              <a:solidFill>
                <a:schemeClr val="accent2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304923C-A24E-E156-E08A-4F768B410446}"/>
              </a:ext>
            </a:extLst>
          </p:cNvPr>
          <p:cNvSpPr/>
          <p:nvPr/>
        </p:nvSpPr>
        <p:spPr>
          <a:xfrm>
            <a:off x="2069180" y="6095265"/>
            <a:ext cx="1593129" cy="342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</a:rPr>
              <a:t> HP + 50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5A477A35-CD62-2DF2-914D-B210081E093A}"/>
              </a:ext>
            </a:extLst>
          </p:cNvPr>
          <p:cNvCxnSpPr>
            <a:cxnSpLocks/>
            <a:stCxn id="36" idx="0"/>
            <a:endCxn id="32" idx="2"/>
          </p:cNvCxnSpPr>
          <p:nvPr/>
        </p:nvCxnSpPr>
        <p:spPr>
          <a:xfrm rot="16200000" flipV="1">
            <a:off x="1756904" y="4644690"/>
            <a:ext cx="725109" cy="14925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205F3EC8-C610-C4DB-3461-26B4C9DA08D7}"/>
              </a:ext>
            </a:extLst>
          </p:cNvPr>
          <p:cNvCxnSpPr>
            <a:stCxn id="34" idx="0"/>
            <a:endCxn id="32" idx="2"/>
          </p:cNvCxnSpPr>
          <p:nvPr/>
        </p:nvCxnSpPr>
        <p:spPr>
          <a:xfrm rot="5400000" flipH="1" flipV="1">
            <a:off x="849585" y="5223643"/>
            <a:ext cx="718805" cy="32836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순서도: 데이터 44">
            <a:extLst>
              <a:ext uri="{FF2B5EF4-FFF2-40B4-BE49-F238E27FC236}">
                <a16:creationId xmlns:a16="http://schemas.microsoft.com/office/drawing/2014/main" id="{49021B9E-BF5C-1314-2956-EE57860BD927}"/>
              </a:ext>
            </a:extLst>
          </p:cNvPr>
          <p:cNvSpPr/>
          <p:nvPr/>
        </p:nvSpPr>
        <p:spPr>
          <a:xfrm>
            <a:off x="7145517" y="320513"/>
            <a:ext cx="2450969" cy="377072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Player Input</a:t>
            </a:r>
            <a:endParaRPr lang="ko-KR" altLang="en-US" dirty="0"/>
          </a:p>
        </p:txBody>
      </p:sp>
      <p:sp>
        <p:nvSpPr>
          <p:cNvPr id="46" name="순서도: 처리 45">
            <a:extLst>
              <a:ext uri="{FF2B5EF4-FFF2-40B4-BE49-F238E27FC236}">
                <a16:creationId xmlns:a16="http://schemas.microsoft.com/office/drawing/2014/main" id="{5497CC80-60CF-0326-3E45-6CD356BEB596}"/>
              </a:ext>
            </a:extLst>
          </p:cNvPr>
          <p:cNvSpPr/>
          <p:nvPr/>
        </p:nvSpPr>
        <p:spPr>
          <a:xfrm>
            <a:off x="6952266" y="1150071"/>
            <a:ext cx="2837469" cy="37707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Character::</a:t>
            </a:r>
            <a:r>
              <a:rPr lang="en-US" altLang="ko-KR" dirty="0" err="1"/>
              <a:t>UseItem</a:t>
            </a:r>
            <a:r>
              <a:rPr lang="en-US" altLang="ko-KR" dirty="0"/>
              <a:t>(index)</a:t>
            </a:r>
            <a:endParaRPr lang="ko-KR" altLang="en-US" dirty="0"/>
          </a:p>
        </p:txBody>
      </p:sp>
      <p:sp>
        <p:nvSpPr>
          <p:cNvPr id="47" name="순서도: 처리 46">
            <a:extLst>
              <a:ext uri="{FF2B5EF4-FFF2-40B4-BE49-F238E27FC236}">
                <a16:creationId xmlns:a16="http://schemas.microsoft.com/office/drawing/2014/main" id="{CF6D1687-51BD-DA36-257D-A9D80A774A54}"/>
              </a:ext>
            </a:extLst>
          </p:cNvPr>
          <p:cNvSpPr/>
          <p:nvPr/>
        </p:nvSpPr>
        <p:spPr>
          <a:xfrm>
            <a:off x="6700097" y="2164295"/>
            <a:ext cx="3341805" cy="37707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Inventory::</a:t>
            </a:r>
            <a:r>
              <a:rPr lang="en-US" altLang="ko-KR" dirty="0" err="1"/>
              <a:t>UseItem</a:t>
            </a:r>
            <a:r>
              <a:rPr lang="en-US" altLang="ko-KR" dirty="0"/>
              <a:t>(index, stats)</a:t>
            </a:r>
            <a:endParaRPr lang="ko-KR" altLang="en-US" dirty="0"/>
          </a:p>
        </p:txBody>
      </p:sp>
      <p:sp>
        <p:nvSpPr>
          <p:cNvPr id="48" name="순서도: 처리 47">
            <a:extLst>
              <a:ext uri="{FF2B5EF4-FFF2-40B4-BE49-F238E27FC236}">
                <a16:creationId xmlns:a16="http://schemas.microsoft.com/office/drawing/2014/main" id="{356AA3BA-B5CA-C47F-9799-C4BA830E8D9C}"/>
              </a:ext>
            </a:extLst>
          </p:cNvPr>
          <p:cNvSpPr/>
          <p:nvPr/>
        </p:nvSpPr>
        <p:spPr>
          <a:xfrm>
            <a:off x="6952266" y="3178519"/>
            <a:ext cx="2837469" cy="37707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Item::Use(stats)</a:t>
            </a:r>
            <a:endParaRPr lang="ko-KR" altLang="en-US" dirty="0"/>
          </a:p>
        </p:txBody>
      </p:sp>
      <p:sp>
        <p:nvSpPr>
          <p:cNvPr id="49" name="순서도: 처리 48">
            <a:extLst>
              <a:ext uri="{FF2B5EF4-FFF2-40B4-BE49-F238E27FC236}">
                <a16:creationId xmlns:a16="http://schemas.microsoft.com/office/drawing/2014/main" id="{687BBD9A-44BB-B7BE-19AA-3AE913B56542}"/>
              </a:ext>
            </a:extLst>
          </p:cNvPr>
          <p:cNvSpPr/>
          <p:nvPr/>
        </p:nvSpPr>
        <p:spPr>
          <a:xfrm>
            <a:off x="5281362" y="4192743"/>
            <a:ext cx="2837469" cy="37707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AttackBoost</a:t>
            </a:r>
            <a:r>
              <a:rPr lang="en-US" altLang="ko-KR" dirty="0"/>
              <a:t>::Use</a:t>
            </a:r>
            <a:endParaRPr lang="ko-KR" altLang="en-US" dirty="0"/>
          </a:p>
        </p:txBody>
      </p:sp>
      <p:sp>
        <p:nvSpPr>
          <p:cNvPr id="50" name="순서도: 처리 49">
            <a:extLst>
              <a:ext uri="{FF2B5EF4-FFF2-40B4-BE49-F238E27FC236}">
                <a16:creationId xmlns:a16="http://schemas.microsoft.com/office/drawing/2014/main" id="{3B8CB2FA-74B0-9D34-C148-033F8E402E78}"/>
              </a:ext>
            </a:extLst>
          </p:cNvPr>
          <p:cNvSpPr/>
          <p:nvPr/>
        </p:nvSpPr>
        <p:spPr>
          <a:xfrm>
            <a:off x="8623167" y="4192743"/>
            <a:ext cx="2837469" cy="37707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HealthPotion</a:t>
            </a:r>
            <a:r>
              <a:rPr lang="en-US" altLang="ko-KR" dirty="0"/>
              <a:t>::Use</a:t>
            </a:r>
            <a:endParaRPr lang="ko-KR" altLang="en-US" dirty="0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8E370A60-2CD3-92CB-4199-EEA84F86D752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8371001" y="697585"/>
            <a:ext cx="1" cy="452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DF75262A-8C0A-F75E-D888-13ED1E01DA9D}"/>
              </a:ext>
            </a:extLst>
          </p:cNvPr>
          <p:cNvCxnSpPr>
            <a:stCxn id="46" idx="2"/>
            <a:endCxn id="47" idx="0"/>
          </p:cNvCxnSpPr>
          <p:nvPr/>
        </p:nvCxnSpPr>
        <p:spPr>
          <a:xfrm flipH="1">
            <a:off x="8371000" y="1527143"/>
            <a:ext cx="1" cy="637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E5D1040B-3EC5-2FDF-6926-0217CB966D63}"/>
              </a:ext>
            </a:extLst>
          </p:cNvPr>
          <p:cNvCxnSpPr>
            <a:cxnSpLocks/>
            <a:stCxn id="47" idx="2"/>
            <a:endCxn id="48" idx="0"/>
          </p:cNvCxnSpPr>
          <p:nvPr/>
        </p:nvCxnSpPr>
        <p:spPr>
          <a:xfrm>
            <a:off x="8371000" y="2541367"/>
            <a:ext cx="1" cy="637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7BADE57B-1E1F-B30A-9F5C-8280C1E2C142}"/>
              </a:ext>
            </a:extLst>
          </p:cNvPr>
          <p:cNvCxnSpPr>
            <a:stCxn id="48" idx="2"/>
            <a:endCxn id="49" idx="0"/>
          </p:cNvCxnSpPr>
          <p:nvPr/>
        </p:nvCxnSpPr>
        <p:spPr>
          <a:xfrm rot="5400000">
            <a:off x="7216973" y="3038715"/>
            <a:ext cx="637152" cy="167090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B64EFC57-94AC-AC1E-0C76-3E3D4B9ED0BA}"/>
              </a:ext>
            </a:extLst>
          </p:cNvPr>
          <p:cNvCxnSpPr>
            <a:stCxn id="48" idx="2"/>
            <a:endCxn id="50" idx="0"/>
          </p:cNvCxnSpPr>
          <p:nvPr/>
        </p:nvCxnSpPr>
        <p:spPr>
          <a:xfrm rot="16200000" flipH="1">
            <a:off x="8887875" y="3038716"/>
            <a:ext cx="637152" cy="167090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FF967D5-023F-FEFD-E50A-486A2E6CAB38}"/>
              </a:ext>
            </a:extLst>
          </p:cNvPr>
          <p:cNvSpPr txBox="1"/>
          <p:nvPr/>
        </p:nvSpPr>
        <p:spPr>
          <a:xfrm>
            <a:off x="6040216" y="4552105"/>
            <a:ext cx="1298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(ATK + 10)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14BB0FC-43B6-AC87-BB13-DDEB547B5C4A}"/>
              </a:ext>
            </a:extLst>
          </p:cNvPr>
          <p:cNvSpPr txBox="1"/>
          <p:nvPr/>
        </p:nvSpPr>
        <p:spPr>
          <a:xfrm>
            <a:off x="8877685" y="4574329"/>
            <a:ext cx="2318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(HP + 50, Max </a:t>
            </a:r>
            <a:r>
              <a:rPr lang="ko-KR" altLang="en-US" dirty="0"/>
              <a:t>보정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5" name="순서도: 처리 64">
            <a:extLst>
              <a:ext uri="{FF2B5EF4-FFF2-40B4-BE49-F238E27FC236}">
                <a16:creationId xmlns:a16="http://schemas.microsoft.com/office/drawing/2014/main" id="{8B81A2FA-7374-7A0F-C5C3-5517852BF277}"/>
              </a:ext>
            </a:extLst>
          </p:cNvPr>
          <p:cNvSpPr/>
          <p:nvPr/>
        </p:nvSpPr>
        <p:spPr>
          <a:xfrm>
            <a:off x="6700096" y="5286356"/>
            <a:ext cx="3341805" cy="37707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StatComponent</a:t>
            </a:r>
            <a:r>
              <a:rPr lang="en-US" altLang="ko-KR" dirty="0"/>
              <a:t> </a:t>
            </a:r>
            <a:r>
              <a:rPr lang="ko-KR" altLang="en-US" dirty="0"/>
              <a:t>값 변경</a:t>
            </a:r>
          </a:p>
        </p:txBody>
      </p:sp>
      <p:sp>
        <p:nvSpPr>
          <p:cNvPr id="66" name="순서도: 처리 65">
            <a:extLst>
              <a:ext uri="{FF2B5EF4-FFF2-40B4-BE49-F238E27FC236}">
                <a16:creationId xmlns:a16="http://schemas.microsoft.com/office/drawing/2014/main" id="{900F62DB-3F6C-3F4C-65DE-4023828CEF60}"/>
              </a:ext>
            </a:extLst>
          </p:cNvPr>
          <p:cNvSpPr/>
          <p:nvPr/>
        </p:nvSpPr>
        <p:spPr>
          <a:xfrm>
            <a:off x="6689464" y="6088961"/>
            <a:ext cx="3341805" cy="37707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Inventory </a:t>
            </a:r>
            <a:r>
              <a:rPr lang="ko-KR" altLang="en-US" dirty="0"/>
              <a:t>슬롯 </a:t>
            </a:r>
            <a:r>
              <a:rPr lang="en-US" altLang="ko-KR" dirty="0"/>
              <a:t>reset (</a:t>
            </a:r>
            <a:r>
              <a:rPr lang="ko-KR" altLang="en-US" dirty="0"/>
              <a:t>소모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D7F9D445-4943-A268-0545-8E0220DDBDA1}"/>
              </a:ext>
            </a:extLst>
          </p:cNvPr>
          <p:cNvCxnSpPr>
            <a:stCxn id="49" idx="2"/>
            <a:endCxn id="65" idx="0"/>
          </p:cNvCxnSpPr>
          <p:nvPr/>
        </p:nvCxnSpPr>
        <p:spPr>
          <a:xfrm rot="16200000" flipH="1">
            <a:off x="7177278" y="4092634"/>
            <a:ext cx="716541" cy="167090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2563977A-DB06-2D62-DE5C-B06C2C66928A}"/>
              </a:ext>
            </a:extLst>
          </p:cNvPr>
          <p:cNvCxnSpPr>
            <a:stCxn id="50" idx="2"/>
            <a:endCxn id="65" idx="0"/>
          </p:cNvCxnSpPr>
          <p:nvPr/>
        </p:nvCxnSpPr>
        <p:spPr>
          <a:xfrm rot="5400000">
            <a:off x="8848181" y="4092634"/>
            <a:ext cx="716541" cy="167090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17634649-8213-A8B8-69CE-A42D27CDA786}"/>
              </a:ext>
            </a:extLst>
          </p:cNvPr>
          <p:cNvCxnSpPr>
            <a:stCxn id="65" idx="2"/>
            <a:endCxn id="66" idx="0"/>
          </p:cNvCxnSpPr>
          <p:nvPr/>
        </p:nvCxnSpPr>
        <p:spPr>
          <a:xfrm flipH="1">
            <a:off x="8360367" y="5663428"/>
            <a:ext cx="10632" cy="4255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946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300</Words>
  <Application>Microsoft Office PowerPoint</Application>
  <PresentationFormat>와이드스크린</PresentationFormat>
  <Paragraphs>75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아이템-인벤토리-캐릭터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성훈 최</dc:creator>
  <cp:lastModifiedBy>성훈 최</cp:lastModifiedBy>
  <cp:revision>2</cp:revision>
  <dcterms:created xsi:type="dcterms:W3CDTF">2026-01-07T01:48:21Z</dcterms:created>
  <dcterms:modified xsi:type="dcterms:W3CDTF">2026-01-07T02:58:14Z</dcterms:modified>
</cp:coreProperties>
</file>